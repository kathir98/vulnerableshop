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9144000" cy="5143500"/>
  <p:notesSz cx="6858000" cy="9144000"/>
  <p:embeddedFontLst>
    <p:embeddedFont>
      <p:font typeface="Roboto Slab"/>
      <p:regular r:id="rId24"/>
    </p:embeddedFont>
    <p:embeddedFont>
      <p:font typeface="Roboto" panose="02000000000000000000"/>
      <p:regular r:id="rId25"/>
      <p:bold r:id="rId26"/>
      <p:italic r:id="rId27"/>
      <p:boldItalic r:id="rId28"/>
    </p:embeddedFont>
    <p:embeddedFont>
      <p:font typeface="Montserrat"/>
      <p:regular r:id="rId29"/>
      <p:bold r:id="rId30"/>
      <p:italic r:id="rId31"/>
      <p:boldItalic r:id="rId32"/>
    </p:embeddedFont>
    <p:embeddedFont>
      <p:font typeface="Comfortaa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9b4cabbbb1_1_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9b4cabbbb1_1_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c6f75fceb_0_1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c6f75fceb_0_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5fceb_0_1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5fceb_0_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c6f75fceb_0_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c6f75fceb_0_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9bbd9d320f_0_1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9bbd9d320f_0_1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c6f75fceb_0_26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c6f75fceb_0_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9bbd9d320f_2_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9bbd9d320f_2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9bbd9d320f_2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9bbd9d320f_2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9bea49a963_0_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9bea49a963_0_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9bbd9d320f_2_9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9bbd9d320f_2_9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bea49a963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9bea49a963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9bea49a963_0_2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9bea49a963_0_2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9bea49a963_0_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9bea49a963_0_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bea49a963_0_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bea49a963_0_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bea49a963_0_15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9bea49a963_0_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9bea49a963_0_65:notes"/>
          <p:cNvSpPr/>
          <p:nvPr>
            <p:ph type="sldImg" idx="2"/>
          </p:nvPr>
        </p:nvSpPr>
        <p:spPr>
          <a:xfrm>
            <a:off x="381188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9bea49a963_0_6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c6f75fceb_0_6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c6f75fceb_0_6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2" name="Google Shape;12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</p:sp>
      <p:cxnSp>
        <p:nvCxnSpPr>
          <p:cNvPr id="13" name="Google Shape;13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" name="Google Shape;14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5" name="Google Shape;15;p2"/>
          <p:cNvSpPr txBox="1"/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" name="Google Shape;18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" name="Google Shape;19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" name="Google Shape;23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8" name="Google Shape;28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5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" name="Google Shape;37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" name="Google Shape;38;p7"/>
          <p:cNvSpPr txBox="1"/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7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2" name="Google Shape;42;p8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cxnSp>
        <p:nvCxnSpPr>
          <p:cNvPr id="45" name="Google Shape;45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7" name="Google Shape;47;p9"/>
          <p:cNvSpPr txBox="1"/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2" name="Google Shape;52;p10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5" name="Google Shape;55;p11"/>
          <p:cNvSpPr txBox="1"/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 panose="02000000000000000000"/>
              <a:buChar char="●"/>
              <a:defRPr sz="1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●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 panose="02000000000000000000"/>
              <a:buChar char="○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 panose="02000000000000000000"/>
              <a:buChar char="■"/>
              <a:defRPr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2"/>
          <a:stretch>
            <a:fillRect/>
          </a:stretch>
        </p:blipFill>
        <p:spPr>
          <a:xfrm>
            <a:off x="7546958" y="288625"/>
            <a:ext cx="1312675" cy="2593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1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type="ctrTitle" idx="4294967295"/>
          </p:nvPr>
        </p:nvSpPr>
        <p:spPr>
          <a:xfrm>
            <a:off x="687000" y="1436000"/>
            <a:ext cx="7424100" cy="146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Setting IDOR vulnerable Java web app </a:t>
            </a:r>
            <a:endParaRPr lang="en-GB"/>
          </a:p>
        </p:txBody>
      </p:sp>
      <p:sp>
        <p:nvSpPr>
          <p:cNvPr id="65" name="Google Shape;65;p13"/>
          <p:cNvSpPr txBox="1"/>
          <p:nvPr/>
        </p:nvSpPr>
        <p:spPr>
          <a:xfrm>
            <a:off x="7327525" y="4149200"/>
            <a:ext cx="1532100" cy="6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By</a:t>
            </a:r>
            <a:br>
              <a:rPr lang="en-US" altLang="en-GB" sz="16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</a:br>
            <a:r>
              <a:rPr lang="en-GB" sz="16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Kathirvel K</a:t>
            </a:r>
            <a:endParaRPr sz="160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449575" y="248350"/>
            <a:ext cx="3976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Table of Contents</a:t>
            </a:r>
            <a:endParaRPr lang="en-GB"/>
          </a:p>
        </p:txBody>
      </p:sp>
      <p:sp>
        <p:nvSpPr>
          <p:cNvPr id="72" name="Google Shape;72;p14"/>
          <p:cNvSpPr txBox="1"/>
          <p:nvPr>
            <p:ph type="body" idx="1"/>
          </p:nvPr>
        </p:nvSpPr>
        <p:spPr>
          <a:xfrm>
            <a:off x="1895275" y="1681425"/>
            <a:ext cx="4196400" cy="241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What is IDOR?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Why it matters and impact?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Owasp Top 10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Our Vulnerable shopping web app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Exploitation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Why it is vulnerable?</a:t>
            </a:r>
            <a:endParaRPr lang="en-GB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-GB"/>
              <a:t>Security controls</a:t>
            </a:r>
            <a:endParaRPr lang="en-GB"/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838875" y="3305575"/>
            <a:ext cx="2076525" cy="16093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 idx="4294967295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IDOR</a:t>
            </a:r>
            <a:endParaRPr lang="en-GB"/>
          </a:p>
        </p:txBody>
      </p:sp>
      <p:sp>
        <p:nvSpPr>
          <p:cNvPr id="79" name="Google Shape;79;p15"/>
          <p:cNvSpPr txBox="1"/>
          <p:nvPr>
            <p:ph type="body" idx="4294967295"/>
          </p:nvPr>
        </p:nvSpPr>
        <p:spPr>
          <a:xfrm>
            <a:off x="311700" y="1195201"/>
            <a:ext cx="3853200" cy="52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400">
                <a:solidFill>
                  <a:schemeClr val="accent5"/>
                </a:solidFill>
              </a:rPr>
              <a:t>What is IDOR?</a:t>
            </a:r>
            <a:endParaRPr sz="2400">
              <a:solidFill>
                <a:schemeClr val="accent5"/>
              </a:solidFill>
            </a:endParaRPr>
          </a:p>
        </p:txBody>
      </p:sp>
      <p:cxnSp>
        <p:nvCxnSpPr>
          <p:cNvPr id="80" name="Google Shape;80;p15"/>
          <p:cNvCxnSpPr/>
          <p:nvPr/>
        </p:nvCxnSpPr>
        <p:spPr>
          <a:xfrm>
            <a:off x="418675" y="1811883"/>
            <a:ext cx="2709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81" name="Google Shape;81;p15"/>
          <p:cNvSpPr txBox="1"/>
          <p:nvPr>
            <p:ph type="body" idx="4294967295"/>
          </p:nvPr>
        </p:nvSpPr>
        <p:spPr>
          <a:xfrm>
            <a:off x="311700" y="1916325"/>
            <a:ext cx="5743800" cy="27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/>
              <a:t>Insecure Direct Object Reference (IDOR) is an access control vulnerability that arise when an application exposes direct references to internal objects (files, database records, URLs) without proper authorization checks.</a:t>
            </a:r>
            <a:endParaRPr sz="1400"/>
          </a:p>
          <a:p>
            <a:pPr marL="0" lvl="0" indent="0" algn="just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en-GB" sz="1400"/>
              <a:t>It occurs when the server trusts a client-supplied object ID and retrieves the resource without verifying whether the authenticated user is authorized to access it.</a:t>
            </a:r>
            <a:endParaRPr sz="1400"/>
          </a:p>
        </p:txBody>
      </p:sp>
      <p:sp>
        <p:nvSpPr>
          <p:cNvPr id="82" name="Google Shape;82;p15"/>
          <p:cNvSpPr txBox="1"/>
          <p:nvPr>
            <p:ph type="body" idx="4294967295"/>
          </p:nvPr>
        </p:nvSpPr>
        <p:spPr>
          <a:xfrm>
            <a:off x="6963480" y="3902458"/>
            <a:ext cx="1644600" cy="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400">
                <a:solidFill>
                  <a:schemeClr val="accent5"/>
                </a:solidFill>
              </a:rPr>
              <a:t>Analogy...</a:t>
            </a:r>
            <a:endParaRPr sz="2400">
              <a:solidFill>
                <a:schemeClr val="accent5"/>
              </a:solidFill>
            </a:endParaRPr>
          </a:p>
        </p:txBody>
      </p:sp>
      <p:sp>
        <p:nvSpPr>
          <p:cNvPr id="83" name="Google Shape;83;p15"/>
          <p:cNvSpPr txBox="1"/>
          <p:nvPr/>
        </p:nvSpPr>
        <p:spPr>
          <a:xfrm>
            <a:off x="6380400" y="1510150"/>
            <a:ext cx="2451900" cy="251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IDOR is a </a:t>
            </a:r>
            <a:r>
              <a:rPr lang="en-GB" sz="15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logical / access control bug</a:t>
            </a:r>
            <a:r>
              <a:rPr lang="en-GB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, not a technical bug.</a:t>
            </a:r>
            <a:endParaRPr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 panose="02000000000000000000"/>
              <a:buChar char="❖"/>
            </a:pPr>
            <a:r>
              <a:rPr lang="en-GB" sz="11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 logic of authorization is missing or flawed.</a:t>
            </a:r>
            <a:endParaRPr sz="110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marR="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 panose="02000000000000000000"/>
              <a:buChar char="❖"/>
            </a:pPr>
            <a:r>
              <a:rPr lang="en-GB" sz="11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The vulnerability exists because the app doesn't verify that the user is allowed to access that resource.</a:t>
            </a:r>
            <a:endParaRPr sz="110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body" idx="2"/>
          </p:nvPr>
        </p:nvSpPr>
        <p:spPr>
          <a:xfrm>
            <a:off x="4730150" y="1151300"/>
            <a:ext cx="4457700" cy="352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</a:pPr>
            <a:endParaRPr sz="2200"/>
          </a:p>
          <a:p>
            <a:pPr marL="457200" marR="0" lvl="0" indent="-3683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2200"/>
              <a:buChar char="❖"/>
            </a:pPr>
            <a:r>
              <a:rPr lang="en-GB" sz="2200"/>
              <a:t>Unauthorised Data access</a:t>
            </a:r>
            <a:endParaRPr sz="2200"/>
          </a:p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-GB" sz="2200"/>
              <a:t>Account takeover</a:t>
            </a:r>
            <a:endParaRPr sz="2200"/>
          </a:p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-GB" sz="2200"/>
              <a:t>Data manipulation</a:t>
            </a:r>
            <a:endParaRPr sz="2200"/>
          </a:p>
          <a:p>
            <a:pPr marL="457200" marR="0" lvl="0" indent="-3683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Char char="❖"/>
            </a:pPr>
            <a:r>
              <a:rPr lang="en-GB" sz="2200"/>
              <a:t>Lateral movement inside app</a:t>
            </a:r>
            <a:endParaRPr sz="2200"/>
          </a:p>
          <a:p>
            <a:pPr marL="0" marR="0" lvl="0" indent="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None/>
            </a:pPr>
            <a:endParaRPr sz="2200"/>
          </a:p>
        </p:txBody>
      </p:sp>
      <p:sp>
        <p:nvSpPr>
          <p:cNvPr id="89" name="Google Shape;89;p16"/>
          <p:cNvSpPr txBox="1"/>
          <p:nvPr>
            <p:ph type="title"/>
          </p:nvPr>
        </p:nvSpPr>
        <p:spPr>
          <a:xfrm>
            <a:off x="299025" y="2261950"/>
            <a:ext cx="3865200" cy="80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Impacts of IDOR</a:t>
            </a:r>
            <a:endParaRPr>
              <a:solidFill>
                <a:schemeClr val="accent5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body" idx="2"/>
          </p:nvPr>
        </p:nvSpPr>
        <p:spPr>
          <a:xfrm>
            <a:off x="4917075" y="952555"/>
            <a:ext cx="3837000" cy="352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-GB" sz="1400"/>
              <a:t>I</a:t>
            </a:r>
            <a:r>
              <a:rPr lang="en-GB" sz="1400"/>
              <a:t>DOR is one of the most common and high-impact access control issues in modern web applications.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-GB" sz="1400"/>
              <a:t>It is easy to exploit, but often hard to detect without proper logging or monitoring.</a:t>
            </a:r>
            <a:endParaRPr sz="1400"/>
          </a:p>
          <a:p>
            <a:pPr marL="457200" lvl="0" indent="-3175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Char char="❖"/>
            </a:pPr>
            <a:r>
              <a:rPr lang="en-GB" sz="1400"/>
              <a:t>Developers frequently validate who you are (authentication) but forget to validate what you are allowed to access (authorization).</a:t>
            </a:r>
            <a:endParaRPr sz="1400"/>
          </a:p>
        </p:txBody>
      </p:sp>
      <p:sp>
        <p:nvSpPr>
          <p:cNvPr id="96" name="Google Shape;96;p17"/>
          <p:cNvSpPr txBox="1"/>
          <p:nvPr>
            <p:ph type="title"/>
          </p:nvPr>
        </p:nvSpPr>
        <p:spPr>
          <a:xfrm>
            <a:off x="228100" y="191265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Why its matters?</a:t>
            </a:r>
            <a:endParaRPr lang="en-GB">
              <a:solidFill>
                <a:schemeClr val="accent5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/>
          <p:nvPr/>
        </p:nvSpPr>
        <p:spPr>
          <a:xfrm>
            <a:off x="-14957" y="3102557"/>
            <a:ext cx="9161100" cy="204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03" name="Google Shape;103;p18" title="Gemini_Generated_Image_kl0w9vkl0w9vkl0w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160287" y="956925"/>
            <a:ext cx="7509651" cy="3802475"/>
          </a:xfrm>
          <a:prstGeom prst="rect">
            <a:avLst/>
          </a:prstGeom>
          <a:noFill/>
          <a:ln w="19050" cap="flat" cmpd="sng">
            <a:solidFill>
              <a:srgbClr val="00517C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4" name="Google Shape;104;p18"/>
          <p:cNvSpPr txBox="1"/>
          <p:nvPr/>
        </p:nvSpPr>
        <p:spPr>
          <a:xfrm rot="-5400000">
            <a:off x="-209325" y="3426825"/>
            <a:ext cx="1510200" cy="8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400">
                <a:solidFill>
                  <a:schemeClr val="accent5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IDOR</a:t>
            </a:r>
            <a:endParaRPr sz="2000"/>
          </a:p>
        </p:txBody>
      </p:sp>
      <p:sp>
        <p:nvSpPr>
          <p:cNvPr id="105" name="Google Shape;105;p18"/>
          <p:cNvSpPr txBox="1"/>
          <p:nvPr/>
        </p:nvSpPr>
        <p:spPr>
          <a:xfrm>
            <a:off x="500900" y="209325"/>
            <a:ext cx="104700" cy="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06" name="Google Shape;106;p18"/>
          <p:cNvSpPr txBox="1"/>
          <p:nvPr/>
        </p:nvSpPr>
        <p:spPr>
          <a:xfrm rot="-5400000">
            <a:off x="-732550" y="1392388"/>
            <a:ext cx="2481900" cy="60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Attack flow</a:t>
            </a:r>
            <a:endParaRPr sz="340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-8550" y="0"/>
            <a:ext cx="91611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pic>
        <p:nvPicPr>
          <p:cNvPr id="112" name="Google Shape;112;p19" title="OWASP_Top_10_2013.png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1320932" y="144625"/>
            <a:ext cx="2740601" cy="4875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9"/>
          <p:cNvSpPr/>
          <p:nvPr/>
        </p:nvSpPr>
        <p:spPr>
          <a:xfrm>
            <a:off x="0" y="-21775"/>
            <a:ext cx="1064100" cy="5180400"/>
          </a:xfrm>
          <a:prstGeom prst="rect">
            <a:avLst/>
          </a:prstGeom>
          <a:solidFill>
            <a:srgbClr val="00517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4" name="Google Shape;114;p19"/>
          <p:cNvSpPr txBox="1"/>
          <p:nvPr/>
        </p:nvSpPr>
        <p:spPr>
          <a:xfrm rot="-5400000">
            <a:off x="-1347750" y="2320600"/>
            <a:ext cx="3759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OWASP TOP 10 </a:t>
            </a:r>
            <a:r>
              <a:rPr lang="en-GB" sz="22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WEB -</a:t>
            </a:r>
            <a:r>
              <a:rPr lang="en-GB" sz="22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 2013</a:t>
            </a:r>
            <a:endParaRPr sz="100" b="1">
              <a:solidFill>
                <a:schemeClr val="dk1"/>
              </a:solidFill>
            </a:endParaRPr>
          </a:p>
        </p:txBody>
      </p:sp>
      <p:sp>
        <p:nvSpPr>
          <p:cNvPr id="115" name="Google Shape;115;p19"/>
          <p:cNvSpPr/>
          <p:nvPr/>
        </p:nvSpPr>
        <p:spPr>
          <a:xfrm>
            <a:off x="8088450" y="1400"/>
            <a:ext cx="1064100" cy="5143500"/>
          </a:xfrm>
          <a:prstGeom prst="rect">
            <a:avLst/>
          </a:prstGeom>
          <a:solidFill>
            <a:srgbClr val="00517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 rot="-5400000">
            <a:off x="6672675" y="2321125"/>
            <a:ext cx="3848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OWASP TOP 10 WEB - 2017</a:t>
            </a:r>
            <a:endParaRPr sz="3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117" name="Google Shape;117;p19" title="OWASP_Top_10_2017.png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31393" y="144614"/>
            <a:ext cx="2732768" cy="4875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8" name="Google Shape;118;p19"/>
          <p:cNvCxnSpPr/>
          <p:nvPr/>
        </p:nvCxnSpPr>
        <p:spPr>
          <a:xfrm>
            <a:off x="4577225" y="2378628"/>
            <a:ext cx="5544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9" name="Google Shape;119;p19"/>
          <p:cNvCxnSpPr/>
          <p:nvPr/>
        </p:nvCxnSpPr>
        <p:spPr>
          <a:xfrm rot="10800000" flipH="1">
            <a:off x="4081958" y="1847025"/>
            <a:ext cx="4971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p19"/>
          <p:cNvCxnSpPr/>
          <p:nvPr/>
        </p:nvCxnSpPr>
        <p:spPr>
          <a:xfrm rot="10800000" flipH="1">
            <a:off x="4075608" y="3324643"/>
            <a:ext cx="4971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1" name="Google Shape;121;p19"/>
          <p:cNvCxnSpPr/>
          <p:nvPr/>
        </p:nvCxnSpPr>
        <p:spPr>
          <a:xfrm>
            <a:off x="4570699" y="1850200"/>
            <a:ext cx="9000" cy="1470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2" name="Google Shape;122;p19"/>
          <p:cNvSpPr txBox="1"/>
          <p:nvPr/>
        </p:nvSpPr>
        <p:spPr>
          <a:xfrm rot="5400000">
            <a:off x="3985520" y="2422536"/>
            <a:ext cx="826200" cy="38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lt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merged</a:t>
            </a:r>
            <a:endParaRPr sz="1300">
              <a:solidFill>
                <a:schemeClr val="lt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/>
          <p:nvPr/>
        </p:nvSpPr>
        <p:spPr>
          <a:xfrm>
            <a:off x="8425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8" name="Google Shape;128;p20"/>
          <p:cNvSpPr/>
          <p:nvPr/>
        </p:nvSpPr>
        <p:spPr>
          <a:xfrm rot="-5400000">
            <a:off x="3141900" y="-855900"/>
            <a:ext cx="2860200" cy="9138600"/>
          </a:xfrm>
          <a:prstGeom prst="rect">
            <a:avLst/>
          </a:prstGeom>
          <a:solidFill>
            <a:srgbClr val="00517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29" name="Google Shape;129;p20"/>
          <p:cNvSpPr txBox="1"/>
          <p:nvPr>
            <p:ph type="title" idx="4294967295"/>
          </p:nvPr>
        </p:nvSpPr>
        <p:spPr>
          <a:xfrm>
            <a:off x="1663525" y="833325"/>
            <a:ext cx="6396300" cy="70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200" b="1">
                <a:solidFill>
                  <a:srgbClr val="004065"/>
                </a:solidFill>
              </a:rPr>
              <a:t>IDOR Vulnerable Java Web app</a:t>
            </a:r>
            <a:endParaRPr sz="3200" b="1">
              <a:solidFill>
                <a:srgbClr val="004065"/>
              </a:solidFill>
            </a:endParaRPr>
          </a:p>
        </p:txBody>
      </p:sp>
      <p:sp>
        <p:nvSpPr>
          <p:cNvPr id="130" name="Google Shape;130;p20"/>
          <p:cNvSpPr txBox="1"/>
          <p:nvPr/>
        </p:nvSpPr>
        <p:spPr>
          <a:xfrm>
            <a:off x="1872525" y="2973425"/>
            <a:ext cx="5513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3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Application overview</a:t>
            </a:r>
            <a:endParaRPr sz="43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1"/>
          <p:cNvSpPr txBox="1"/>
          <p:nvPr/>
        </p:nvSpPr>
        <p:spPr>
          <a:xfrm>
            <a:off x="5156575" y="1326050"/>
            <a:ext cx="3327600" cy="26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 panose="02000000000000000000"/>
              <a:buChar char="❖"/>
            </a:pPr>
            <a:r>
              <a:rPr lang="en-GB" sz="20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Profile</a:t>
            </a: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 panose="02000000000000000000"/>
              <a:buChar char="❖"/>
            </a:pPr>
            <a:r>
              <a:rPr lang="en-GB" sz="20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Change password</a:t>
            </a: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 panose="02000000000000000000"/>
              <a:buChar char="❖"/>
            </a:pPr>
            <a:r>
              <a:rPr lang="en-GB" sz="20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Edit user profile</a:t>
            </a: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 panose="02000000000000000000"/>
              <a:buChar char="❖"/>
            </a:pPr>
            <a:r>
              <a:rPr lang="en-GB" sz="20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Delete user account</a:t>
            </a: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36" name="Google Shape;136;p21"/>
          <p:cNvSpPr txBox="1"/>
          <p:nvPr>
            <p:ph type="title"/>
          </p:nvPr>
        </p:nvSpPr>
        <p:spPr>
          <a:xfrm>
            <a:off x="369475" y="199070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IDOR </a:t>
            </a:r>
            <a:r>
              <a:rPr lang="en-GB">
                <a:solidFill>
                  <a:schemeClr val="accent5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Vulnerable modules?</a:t>
            </a:r>
            <a:endParaRPr lang="en-GB">
              <a:solidFill>
                <a:schemeClr val="accent5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8425" y="0"/>
            <a:ext cx="914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3" name="Google Shape;143;p22"/>
          <p:cNvSpPr/>
          <p:nvPr/>
        </p:nvSpPr>
        <p:spPr>
          <a:xfrm>
            <a:off x="4572000" y="1400"/>
            <a:ext cx="4580400" cy="5143500"/>
          </a:xfrm>
          <a:prstGeom prst="rect">
            <a:avLst/>
          </a:prstGeom>
          <a:solidFill>
            <a:srgbClr val="00517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44" name="Google Shape;144;p22"/>
          <p:cNvSpPr txBox="1"/>
          <p:nvPr/>
        </p:nvSpPr>
        <p:spPr>
          <a:xfrm>
            <a:off x="2463775" y="1946403"/>
            <a:ext cx="4233300" cy="10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5900" b="1">
                <a:solidFill>
                  <a:schemeClr val="dk1"/>
                </a:solidFill>
                <a:highlight>
                  <a:srgbClr val="00517C"/>
                </a:highlight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Exploi</a:t>
            </a:r>
            <a:r>
              <a:rPr lang="en-GB" sz="59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tation</a:t>
            </a:r>
            <a:endParaRPr sz="5900" b="1">
              <a:solidFill>
                <a:schemeClr val="dk1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 txBox="1"/>
          <p:nvPr/>
        </p:nvSpPr>
        <p:spPr>
          <a:xfrm>
            <a:off x="4699850" y="1829575"/>
            <a:ext cx="43497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 panose="02000000000000000000"/>
              <a:buChar char="❖"/>
            </a:pPr>
            <a:r>
              <a:rPr lang="en-GB" sz="20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Missing authorization checks</a:t>
            </a: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 panose="02000000000000000000"/>
              <a:buChar char="❖"/>
            </a:pPr>
            <a:r>
              <a:rPr lang="en-GB" sz="20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Trusting client-side controls</a:t>
            </a: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 panose="02000000000000000000"/>
              <a:buChar char="❖"/>
            </a:pPr>
            <a:r>
              <a:rPr lang="en-GB" sz="20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Easily guessable objects</a:t>
            </a: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51" name="Google Shape;151;p23"/>
          <p:cNvSpPr txBox="1"/>
          <p:nvPr>
            <p:ph type="title"/>
          </p:nvPr>
        </p:nvSpPr>
        <p:spPr>
          <a:xfrm>
            <a:off x="369475" y="1990700"/>
            <a:ext cx="4045200" cy="131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5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Why its Vulnerable?</a:t>
            </a:r>
            <a:endParaRPr lang="en-GB">
              <a:solidFill>
                <a:schemeClr val="accent5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4"/>
          <p:cNvSpPr txBox="1"/>
          <p:nvPr>
            <p:ph type="title"/>
          </p:nvPr>
        </p:nvSpPr>
        <p:spPr>
          <a:xfrm>
            <a:off x="291582" y="402375"/>
            <a:ext cx="1854000" cy="45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Vulnerable code</a:t>
            </a:r>
            <a:endParaRPr sz="1800"/>
          </a:p>
        </p:txBody>
      </p:sp>
      <p:sp>
        <p:nvSpPr>
          <p:cNvPr id="158" name="Google Shape;158;p24"/>
          <p:cNvSpPr txBox="1"/>
          <p:nvPr>
            <p:ph type="title"/>
          </p:nvPr>
        </p:nvSpPr>
        <p:spPr>
          <a:xfrm>
            <a:off x="4635107" y="428625"/>
            <a:ext cx="1560000" cy="39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Secure code</a:t>
            </a:r>
            <a:endParaRPr sz="1800">
              <a:solidFill>
                <a:schemeClr val="accent5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160" name="Google Shape;160;p24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66350" y="1106575"/>
            <a:ext cx="3994599" cy="318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24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702425" y="1106575"/>
            <a:ext cx="4266749" cy="3183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5"/>
          <p:cNvSpPr txBox="1"/>
          <p:nvPr>
            <p:ph type="title"/>
          </p:nvPr>
        </p:nvSpPr>
        <p:spPr>
          <a:xfrm>
            <a:off x="216550" y="159450"/>
            <a:ext cx="2688300" cy="48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solidFill>
                  <a:schemeClr val="accent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Security controls</a:t>
            </a:r>
            <a:endParaRPr sz="2600">
              <a:solidFill>
                <a:schemeClr val="accent5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68" name="Google Shape;168;p25"/>
          <p:cNvSpPr txBox="1"/>
          <p:nvPr/>
        </p:nvSpPr>
        <p:spPr>
          <a:xfrm>
            <a:off x="755350" y="1020450"/>
            <a:ext cx="19434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Detection control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25"/>
          <p:cNvSpPr txBox="1"/>
          <p:nvPr/>
        </p:nvSpPr>
        <p:spPr>
          <a:xfrm>
            <a:off x="5249775" y="1020450"/>
            <a:ext cx="1807500" cy="34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Preventive control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5137650" y="1525125"/>
            <a:ext cx="3857700" cy="18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 panose="02000000000000000000"/>
              <a:buChar char="❖"/>
            </a:pPr>
            <a:r>
              <a:rPr lang="en-GB" sz="12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Server-Side Access Validation</a:t>
            </a:r>
            <a:endParaRPr sz="12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04800" algn="l" rtl="0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 panose="02000000000000000000"/>
              <a:buChar char="❖"/>
            </a:pPr>
            <a:r>
              <a:rPr lang="en-GB" sz="12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Use Indirect References</a:t>
            </a:r>
            <a:endParaRPr sz="12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04800" algn="l" rtl="0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 panose="02000000000000000000"/>
              <a:buChar char="❖"/>
            </a:pPr>
            <a:r>
              <a:rPr lang="en-GB" sz="12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Role-Based Access Control (RBAC)</a:t>
            </a:r>
            <a:endParaRPr sz="12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04800" algn="l" rtl="0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 panose="02000000000000000000"/>
              <a:buChar char="❖"/>
            </a:pPr>
            <a:r>
              <a:rPr lang="en-GB" sz="12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Secure Coding Standards and Code review</a:t>
            </a:r>
            <a:endParaRPr sz="12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04800" algn="l" rtl="0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 panose="02000000000000000000"/>
              <a:buChar char="❖"/>
            </a:pPr>
            <a:r>
              <a:rPr lang="en-GB" sz="12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Least privilege principle</a:t>
            </a:r>
            <a:endParaRPr sz="12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04800" algn="l" rtl="0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 panose="02000000000000000000"/>
              <a:buChar char="❖"/>
            </a:pPr>
            <a:r>
              <a:rPr lang="en-GB" sz="12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Manual and automated Testing</a:t>
            </a:r>
            <a:endParaRPr sz="12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638325" y="1525125"/>
            <a:ext cx="3528600" cy="262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 panose="02000000000000000000"/>
              <a:buChar char="❖"/>
            </a:pPr>
            <a:r>
              <a:rPr lang="en-GB" sz="12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Detailed Access Logging</a:t>
            </a:r>
            <a:endParaRPr sz="12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04800" algn="l" rtl="0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 panose="02000000000000000000"/>
              <a:buChar char="❖"/>
            </a:pPr>
            <a:r>
              <a:rPr lang="en-GB" sz="12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SIEM Correlation Rules for </a:t>
            </a:r>
            <a:r>
              <a:rPr lang="en-GB" sz="12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Detecting sequential enumeration and Access to high-value objects by   low-privilege users</a:t>
            </a:r>
            <a:endParaRPr sz="12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04800" algn="l" rtl="0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 panose="02000000000000000000"/>
              <a:buChar char="❖"/>
            </a:pPr>
            <a:r>
              <a:rPr lang="en-GB" sz="12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WAF / API Gateway Monitoring</a:t>
            </a:r>
            <a:endParaRPr sz="12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04800" algn="l" rtl="0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 panose="02000000000000000000"/>
              <a:buChar char="❖"/>
            </a:pPr>
            <a:r>
              <a:rPr lang="en-GB" sz="12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Anomaly detection</a:t>
            </a:r>
            <a:endParaRPr sz="12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04800" algn="l" rtl="0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Roboto" panose="02000000000000000000"/>
              <a:buChar char="❖"/>
            </a:pPr>
            <a:r>
              <a:rPr lang="en-GB" sz="1200">
                <a:solidFill>
                  <a:srgbClr val="FFFFFF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UEBA</a:t>
            </a:r>
            <a:endParaRPr sz="12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lnSpc>
                <a:spcPct val="171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rgbClr val="FFFFFF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/>
        </p:nvSpPr>
        <p:spPr>
          <a:xfrm>
            <a:off x="4684900" y="1769775"/>
            <a:ext cx="4349700" cy="20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 panose="02000000000000000000"/>
              <a:buChar char="❖"/>
            </a:pPr>
            <a:r>
              <a:rPr lang="en-GB" sz="15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Application logs with authentication, authorization, user activity logs</a:t>
            </a:r>
            <a:endParaRPr sz="15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 panose="02000000000000000000"/>
              <a:buChar char="❖"/>
            </a:pPr>
            <a:r>
              <a:rPr lang="en-GB" sz="15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Web server logs</a:t>
            </a:r>
            <a:endParaRPr sz="15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-3238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 panose="02000000000000000000"/>
              <a:buChar char="❖"/>
            </a:pPr>
            <a:r>
              <a:rPr lang="en-GB" sz="1500" b="1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WAF logs</a:t>
            </a:r>
            <a:endParaRPr sz="15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77" name="Google Shape;177;p26"/>
          <p:cNvSpPr txBox="1"/>
          <p:nvPr>
            <p:ph type="title"/>
          </p:nvPr>
        </p:nvSpPr>
        <p:spPr>
          <a:xfrm>
            <a:off x="369475" y="2177600"/>
            <a:ext cx="4045200" cy="1074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solidFill>
                  <a:schemeClr val="accent5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Logs needed for detection</a:t>
            </a:r>
            <a:endParaRPr sz="900"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>
              <a:solidFill>
                <a:schemeClr val="accent5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 txBox="1"/>
          <p:nvPr/>
        </p:nvSpPr>
        <p:spPr>
          <a:xfrm>
            <a:off x="6243175" y="1003993"/>
            <a:ext cx="1434000" cy="2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Web server 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84" name="Google Shape;184;p2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48225" y="254200"/>
            <a:ext cx="5213124" cy="21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7"/>
          <p:cNvSpPr txBox="1"/>
          <p:nvPr/>
        </p:nvSpPr>
        <p:spPr>
          <a:xfrm>
            <a:off x="5749075" y="1351476"/>
            <a:ext cx="24222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(Doesn’t have the required information)</a:t>
            </a:r>
            <a:endParaRPr sz="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186" name="Google Shape;186;p27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48225" y="2571750"/>
            <a:ext cx="5213124" cy="2292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7"/>
          <p:cNvSpPr txBox="1"/>
          <p:nvPr/>
        </p:nvSpPr>
        <p:spPr>
          <a:xfrm>
            <a:off x="5985525" y="3153275"/>
            <a:ext cx="2478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Application access logs</a:t>
            </a:r>
            <a:endParaRPr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188" name="Google Shape;188;p27"/>
          <p:cNvSpPr txBox="1"/>
          <p:nvPr/>
        </p:nvSpPr>
        <p:spPr>
          <a:xfrm>
            <a:off x="5852625" y="3553475"/>
            <a:ext cx="2610900" cy="3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(this logs have the information we required)</a:t>
            </a:r>
            <a:endParaRPr sz="8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80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6623748" y="1712008"/>
            <a:ext cx="463500" cy="4002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0" name="Google Shape;190;p27"/>
          <p:cNvSpPr/>
          <p:nvPr/>
        </p:nvSpPr>
        <p:spPr>
          <a:xfrm>
            <a:off x="6616298" y="1738542"/>
            <a:ext cx="463500" cy="328800"/>
          </a:xfrm>
          <a:prstGeom prst="mathMultiply">
            <a:avLst>
              <a:gd name="adj1" fmla="val 2352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191" name="Google Shape;191;p27" title="green-check-circle.png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691045" y="3880114"/>
            <a:ext cx="463500" cy="46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8"/>
          <p:cNvSpPr txBox="1"/>
          <p:nvPr/>
        </p:nvSpPr>
        <p:spPr>
          <a:xfrm>
            <a:off x="309993" y="585425"/>
            <a:ext cx="2061900" cy="3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Fuzzing detection</a:t>
            </a:r>
            <a:endParaRPr sz="1800">
              <a:solidFill>
                <a:schemeClr val="dk1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7" name="Google Shape;197;p28"/>
          <p:cNvSpPr txBox="1"/>
          <p:nvPr/>
        </p:nvSpPr>
        <p:spPr>
          <a:xfrm>
            <a:off x="209320" y="1256250"/>
            <a:ext cx="11103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accent5"/>
                </a:solidFill>
                <a:latin typeface="Roboto" panose="02000000000000000000"/>
                <a:ea typeface="Roboto" panose="02000000000000000000"/>
                <a:cs typeface="Roboto" panose="02000000000000000000"/>
                <a:sym typeface="Roboto" panose="02000000000000000000"/>
              </a:rPr>
              <a:t>Regex Pattern</a:t>
            </a:r>
            <a:endParaRPr sz="1100">
              <a:solidFill>
                <a:schemeClr val="accent5"/>
              </a:solidFill>
              <a:latin typeface="Roboto" panose="0200000000000000000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pic>
        <p:nvPicPr>
          <p:cNvPr id="198" name="Google Shape;198;p2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09999" y="1670050"/>
            <a:ext cx="2792751" cy="1971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8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3449925" y="889650"/>
            <a:ext cx="5291400" cy="38426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9"/>
          <p:cNvSpPr/>
          <p:nvPr/>
        </p:nvSpPr>
        <p:spPr>
          <a:xfrm>
            <a:off x="0" y="0"/>
            <a:ext cx="9161100" cy="24846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05" name="Google Shape;205;p29"/>
          <p:cNvSpPr txBox="1"/>
          <p:nvPr>
            <p:ph type="title" idx="4294967295"/>
          </p:nvPr>
        </p:nvSpPr>
        <p:spPr>
          <a:xfrm>
            <a:off x="376950" y="829200"/>
            <a:ext cx="8520600" cy="73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600">
                <a:solidFill>
                  <a:schemeClr val="accent1"/>
                </a:solidFill>
              </a:rPr>
              <a:t>Queries ?</a:t>
            </a:r>
            <a:endParaRPr sz="3600">
              <a:solidFill>
                <a:schemeClr val="accent1"/>
              </a:solidFill>
            </a:endParaRPr>
          </a:p>
        </p:txBody>
      </p:sp>
      <p:sp>
        <p:nvSpPr>
          <p:cNvPr id="206" name="Google Shape;206;p29"/>
          <p:cNvSpPr txBox="1"/>
          <p:nvPr>
            <p:ph type="body" idx="4294967295"/>
          </p:nvPr>
        </p:nvSpPr>
        <p:spPr>
          <a:xfrm>
            <a:off x="311700" y="3198825"/>
            <a:ext cx="8520600" cy="160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3000"/>
              <a:t>Thanks</a:t>
            </a:r>
            <a:endParaRPr sz="3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2284</Words>
  <Application>WPS Presentation</Application>
  <PresentationFormat/>
  <Paragraphs>135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SimSun</vt:lpstr>
      <vt:lpstr>Wingdings</vt:lpstr>
      <vt:lpstr>Arial</vt:lpstr>
      <vt:lpstr>Roboto Slab</vt:lpstr>
      <vt:lpstr>Roboto</vt:lpstr>
      <vt:lpstr>Montserrat</vt:lpstr>
      <vt:lpstr>Comfortaa</vt:lpstr>
      <vt:lpstr>Microsoft YaHei</vt:lpstr>
      <vt:lpstr>Arial Unicode MS</vt:lpstr>
      <vt:lpstr>Marina</vt:lpstr>
      <vt:lpstr>Setting IDOR vulnerable Java web app </vt:lpstr>
      <vt:lpstr>Table of Contents</vt:lpstr>
      <vt:lpstr>IDOR</vt:lpstr>
      <vt:lpstr>Impacts of IDOR</vt:lpstr>
      <vt:lpstr>Why its matters?</vt:lpstr>
      <vt:lpstr>PowerPoint 演示文稿</vt:lpstr>
      <vt:lpstr>PowerPoint 演示文稿</vt:lpstr>
      <vt:lpstr>IDOR Vulnerable Java Web app</vt:lpstr>
      <vt:lpstr>IDOR Vulnerable modules?</vt:lpstr>
      <vt:lpstr>PowerPoint 演示文稿</vt:lpstr>
      <vt:lpstr>Why its Vulnerable?</vt:lpstr>
      <vt:lpstr>Secure code</vt:lpstr>
      <vt:lpstr>Security controls</vt:lpstr>
      <vt:lpstr>Logs needed for detection</vt:lpstr>
      <vt:lpstr>PowerPoint 演示文稿</vt:lpstr>
      <vt:lpstr>PowerPoint 演示文稿</vt:lpstr>
      <vt:lpstr>Queries ?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Setting IDOR vulnerable Java web app </dc:title>
  <dc:creator/>
  <cp:lastModifiedBy>kathir</cp:lastModifiedBy>
  <cp:revision>1</cp:revision>
  <dcterms:created xsi:type="dcterms:W3CDTF">2025-11-21T04:35:35Z</dcterms:created>
  <dcterms:modified xsi:type="dcterms:W3CDTF">2025-11-21T04:35:35Z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C8A6F7A1F7224AC8AC39A03760B0C7BE_12</vt:lpwstr>
  </property>
  <property fmtid="{D5CDD505-2E9C-101B-9397-08002B2CF9AE}" pid="3" name="KSOProductBuildVer">
    <vt:lpwstr>2057-12.2.0.23149</vt:lpwstr>
  </property>
</Properties>
</file>